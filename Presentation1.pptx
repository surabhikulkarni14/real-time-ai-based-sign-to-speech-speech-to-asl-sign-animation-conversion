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1901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60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9C583-64B2-4D7F-AE17-EFBBB06916AD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933B9-368E-4427-B673-D432132C9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858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9C583-64B2-4D7F-AE17-EFBBB06916AD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933B9-368E-4427-B673-D432132C9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38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9C583-64B2-4D7F-AE17-EFBBB06916AD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933B9-368E-4427-B673-D432132C9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000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9C583-64B2-4D7F-AE17-EFBBB06916AD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933B9-368E-4427-B673-D432132C9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427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9C583-64B2-4D7F-AE17-EFBBB06916AD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933B9-368E-4427-B673-D432132C9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723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9C583-64B2-4D7F-AE17-EFBBB06916AD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933B9-368E-4427-B673-D432132C9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54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9C583-64B2-4D7F-AE17-EFBBB06916AD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933B9-368E-4427-B673-D432132C9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448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9C583-64B2-4D7F-AE17-EFBBB06916AD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933B9-368E-4427-B673-D432132C9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940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9C583-64B2-4D7F-AE17-EFBBB06916AD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933B9-368E-4427-B673-D432132C9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998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9C583-64B2-4D7F-AE17-EFBBB06916AD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933B9-368E-4427-B673-D432132C9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295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9C583-64B2-4D7F-AE17-EFBBB06916AD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933B9-368E-4427-B673-D432132C9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741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29C583-64B2-4D7F-AE17-EFBBB06916AD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9933B9-368E-4427-B673-D432132C9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043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04438F-DE4D-4DC6-989F-578F76A4F84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155197"/>
              </a:clrFrom>
              <a:clrTo>
                <a:srgbClr val="155197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149" y="859667"/>
            <a:ext cx="4019879" cy="15423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FE41BB-3BCE-72DE-ED1B-A92279492D6B}"/>
              </a:ext>
            </a:extLst>
          </p:cNvPr>
          <p:cNvSpPr txBox="1"/>
          <p:nvPr/>
        </p:nvSpPr>
        <p:spPr>
          <a:xfrm>
            <a:off x="136478" y="95534"/>
            <a:ext cx="12514997" cy="707886"/>
          </a:xfrm>
          <a:prstGeom prst="rect">
            <a:avLst/>
          </a:prstGeom>
          <a:solidFill>
            <a:srgbClr val="99CC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Bahnschrift Light Condensed" panose="020B0502040204020203" pitchFamily="34" charset="0"/>
              </a:rPr>
              <a:t>REAL-TIME SIGN-TO-SPEECH AND SPEECH TO ASL ANIMATION CONVERSION</a:t>
            </a:r>
            <a:endParaRPr lang="en-IN" sz="4000" dirty="0">
              <a:latin typeface="Bahnschrift Light Condensed" panose="020B0502040204020203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F9CAA24-8E16-951E-6C90-7961949B65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5" t="10805" r="2095" b="12428"/>
          <a:stretch>
            <a:fillRect/>
          </a:stretch>
        </p:blipFill>
        <p:spPr>
          <a:xfrm>
            <a:off x="4558595" y="2988861"/>
            <a:ext cx="3910453" cy="2142698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9047B86-B962-E37F-E635-DE8AAB42CD42}"/>
              </a:ext>
            </a:extLst>
          </p:cNvPr>
          <p:cNvSpPr/>
          <p:nvPr/>
        </p:nvSpPr>
        <p:spPr>
          <a:xfrm>
            <a:off x="4681182" y="2402006"/>
            <a:ext cx="3787866" cy="586855"/>
          </a:xfrm>
          <a:prstGeom prst="roundRect">
            <a:avLst/>
          </a:prstGeom>
          <a:solidFill>
            <a:srgbClr val="99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ptos Display" panose="020B0004020202020204" pitchFamily="34" charset="0"/>
              </a:rPr>
              <a:t>FLOWCHART</a:t>
            </a:r>
            <a:endParaRPr lang="en-IN" sz="2400" b="1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002558-9C45-A921-5B80-43FF22622DD8}"/>
              </a:ext>
            </a:extLst>
          </p:cNvPr>
          <p:cNvSpPr/>
          <p:nvPr/>
        </p:nvSpPr>
        <p:spPr>
          <a:xfrm>
            <a:off x="4681181" y="5131559"/>
            <a:ext cx="3787867" cy="198981"/>
          </a:xfrm>
          <a:prstGeom prst="rect">
            <a:avLst/>
          </a:prstGeom>
          <a:solidFill>
            <a:srgbClr val="99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SIGN-TO-SPEECH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6" name="Rectangle: Top Corners Rounded 25">
            <a:extLst>
              <a:ext uri="{FF2B5EF4-FFF2-40B4-BE49-F238E27FC236}">
                <a16:creationId xmlns:a16="http://schemas.microsoft.com/office/drawing/2014/main" id="{6244C6B4-91BA-E737-FF98-4D2823AB8C9D}"/>
              </a:ext>
            </a:extLst>
          </p:cNvPr>
          <p:cNvSpPr/>
          <p:nvPr/>
        </p:nvSpPr>
        <p:spPr>
          <a:xfrm rot="10800000">
            <a:off x="8693623" y="1473957"/>
            <a:ext cx="3957850" cy="2932805"/>
          </a:xfrm>
          <a:prstGeom prst="round2SameRect">
            <a:avLst/>
          </a:prstGeom>
          <a:solidFill>
            <a:srgbClr val="99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8BABF8-D14E-19C4-8448-D9EBD1C81B55}"/>
              </a:ext>
            </a:extLst>
          </p:cNvPr>
          <p:cNvSpPr/>
          <p:nvPr/>
        </p:nvSpPr>
        <p:spPr>
          <a:xfrm>
            <a:off x="8693624" y="887104"/>
            <a:ext cx="3957851" cy="450377"/>
          </a:xfrm>
          <a:prstGeom prst="rect">
            <a:avLst/>
          </a:prstGeom>
          <a:solidFill>
            <a:srgbClr val="99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ptos Display" panose="020B0004020202020204" pitchFamily="34" charset="0"/>
              </a:rPr>
              <a:t>OBJECTIVES</a:t>
            </a:r>
            <a:endParaRPr lang="en-IN" sz="2400" b="1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17F5A5-0EE4-9A63-1ECA-9691C38F5DA0}"/>
              </a:ext>
            </a:extLst>
          </p:cNvPr>
          <p:cNvSpPr txBox="1"/>
          <p:nvPr/>
        </p:nvSpPr>
        <p:spPr>
          <a:xfrm>
            <a:off x="8693622" y="1473956"/>
            <a:ext cx="395785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Real-time ASL ↔ Speech: Instantly convert ASL gestures to speech and speech to ASL animations.</a:t>
            </a:r>
          </a:p>
          <a:p>
            <a:r>
              <a:rPr lang="en-US" b="1" dirty="0"/>
              <a:t>Two-Way Communication: Enables smooth interaction between deaf and hearing users without interpreters.</a:t>
            </a:r>
          </a:p>
          <a:p>
            <a:r>
              <a:rPr lang="en-US" b="1" dirty="0"/>
              <a:t>Web-Based &amp; Hardware-Free: Works on any laptop using just a webcam and microphone.</a:t>
            </a:r>
          </a:p>
          <a:p>
            <a:endParaRPr lang="en-IN" dirty="0"/>
          </a:p>
        </p:txBody>
      </p:sp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E7C18F3C-771A-BC1B-FDA0-0EFBBDFFDAC1}"/>
              </a:ext>
            </a:extLst>
          </p:cNvPr>
          <p:cNvSpPr/>
          <p:nvPr/>
        </p:nvSpPr>
        <p:spPr>
          <a:xfrm rot="10800000">
            <a:off x="136478" y="1473956"/>
            <a:ext cx="4142096" cy="2932807"/>
          </a:xfrm>
          <a:prstGeom prst="round2SameRect">
            <a:avLst/>
          </a:prstGeom>
          <a:solidFill>
            <a:srgbClr val="99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07521E-17ED-667A-6B3C-F5D3493E56BB}"/>
              </a:ext>
            </a:extLst>
          </p:cNvPr>
          <p:cNvSpPr/>
          <p:nvPr/>
        </p:nvSpPr>
        <p:spPr>
          <a:xfrm>
            <a:off x="136477" y="894150"/>
            <a:ext cx="4142097" cy="450377"/>
          </a:xfrm>
          <a:prstGeom prst="rect">
            <a:avLst/>
          </a:prstGeom>
          <a:solidFill>
            <a:srgbClr val="99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ptos Display" panose="020B0004020202020204" pitchFamily="34" charset="0"/>
              </a:rPr>
              <a:t>ABSTRACT</a:t>
            </a:r>
            <a:endParaRPr lang="en-IN" sz="2400" b="1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445D9B-9C28-1B7A-A42C-F30C9C4C5461}"/>
              </a:ext>
            </a:extLst>
          </p:cNvPr>
          <p:cNvSpPr txBox="1"/>
          <p:nvPr/>
        </p:nvSpPr>
        <p:spPr>
          <a:xfrm>
            <a:off x="190457" y="1473956"/>
            <a:ext cx="414209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Communication is essential, and this project enhances it by converting spoken English into ASL signs using speech recognition, NLP, and computer vision. The system offers smooth speech-to-sign and sign-to-speech translation through a simple desktop app, helping bridge the communication gap and support inclusive interaction for hearing-impaired individuals</a:t>
            </a:r>
            <a:endParaRPr lang="en-IN" b="1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00D611B-CE4A-16E5-398E-F2FFA01ADE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1" t="10638" r="3033" b="20891"/>
          <a:stretch>
            <a:fillRect/>
          </a:stretch>
        </p:blipFill>
        <p:spPr>
          <a:xfrm>
            <a:off x="4558595" y="5419250"/>
            <a:ext cx="4024264" cy="202178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EB8C9C75-D2B9-115A-1181-B8103660D86D}"/>
              </a:ext>
            </a:extLst>
          </p:cNvPr>
          <p:cNvSpPr/>
          <p:nvPr/>
        </p:nvSpPr>
        <p:spPr>
          <a:xfrm>
            <a:off x="4681182" y="7336088"/>
            <a:ext cx="3787866" cy="193652"/>
          </a:xfrm>
          <a:prstGeom prst="rect">
            <a:avLst/>
          </a:prstGeom>
          <a:solidFill>
            <a:srgbClr val="99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SPEECH-TO-ANIMATION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B0EB4619-AD18-B71A-4255-50404A3E6748}"/>
              </a:ext>
            </a:extLst>
          </p:cNvPr>
          <p:cNvSpPr/>
          <p:nvPr/>
        </p:nvSpPr>
        <p:spPr>
          <a:xfrm rot="10800000">
            <a:off x="136475" y="6430140"/>
            <a:ext cx="4299286" cy="2932808"/>
          </a:xfrm>
          <a:prstGeom prst="round2SameRect">
            <a:avLst/>
          </a:prstGeom>
          <a:solidFill>
            <a:srgbClr val="99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511181E-995A-904E-81BD-691C651FB4BE}"/>
              </a:ext>
            </a:extLst>
          </p:cNvPr>
          <p:cNvSpPr/>
          <p:nvPr/>
        </p:nvSpPr>
        <p:spPr>
          <a:xfrm>
            <a:off x="136476" y="5834805"/>
            <a:ext cx="4299285" cy="450377"/>
          </a:xfrm>
          <a:prstGeom prst="rect">
            <a:avLst/>
          </a:prstGeom>
          <a:solidFill>
            <a:srgbClr val="99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ptos Display" panose="020B0004020202020204" pitchFamily="34" charset="0"/>
              </a:rPr>
              <a:t>SDG RELEVENCE</a:t>
            </a:r>
            <a:endParaRPr lang="en-IN" sz="2400" b="1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0291E6-C05D-0560-2D8C-9473E23C73B2}"/>
              </a:ext>
            </a:extLst>
          </p:cNvPr>
          <p:cNvSpPr txBox="1"/>
          <p:nvPr/>
        </p:nvSpPr>
        <p:spPr>
          <a:xfrm>
            <a:off x="136474" y="6430140"/>
            <a:ext cx="4544706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SDG 11: Sustainable Cities and Communities</a:t>
            </a:r>
          </a:p>
          <a:p>
            <a:r>
              <a:rPr lang="en-US" sz="1600" b="1" dirty="0"/>
              <a:t>Promotes inclusive and accessible communication for hearing- and speech-impaired individuals.</a:t>
            </a:r>
          </a:p>
          <a:p>
            <a:r>
              <a:rPr lang="en-US" sz="1600" b="1" dirty="0"/>
              <a:t>Enhances public participation by reducing communication barriers in community spaces, transport, healthcare, and government services.</a:t>
            </a:r>
          </a:p>
          <a:p>
            <a:r>
              <a:rPr lang="en-US" sz="1600" b="1" dirty="0"/>
              <a:t>Supports creation of disability-friendly digital and physical environments through assistive AI technologies.</a:t>
            </a:r>
          </a:p>
          <a:p>
            <a:r>
              <a:rPr lang="en-US" sz="1600" b="1" dirty="0"/>
              <a:t>Contributes to building more socially inclusive, resilient, and equitable communities.</a:t>
            </a:r>
          </a:p>
          <a:p>
            <a:endParaRPr lang="en-IN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30B200C-5BE1-C29B-0056-9E6C6A0C4B44}"/>
              </a:ext>
            </a:extLst>
          </p:cNvPr>
          <p:cNvSpPr/>
          <p:nvPr/>
        </p:nvSpPr>
        <p:spPr>
          <a:xfrm>
            <a:off x="8693621" y="5834804"/>
            <a:ext cx="3957851" cy="450377"/>
          </a:xfrm>
          <a:prstGeom prst="rect">
            <a:avLst/>
          </a:prstGeom>
          <a:solidFill>
            <a:srgbClr val="99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ptos Display" panose="020B0004020202020204" pitchFamily="34" charset="0"/>
              </a:rPr>
              <a:t>OUTPUT</a:t>
            </a:r>
            <a:endParaRPr lang="en-IN" sz="2400" b="1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53C985D3-0F45-69E6-5953-B16EFE9D3E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3621" y="6375071"/>
            <a:ext cx="2031940" cy="1901714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A0799222-B94C-60DF-3AFE-E148DCA5B1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6323" y="6430139"/>
            <a:ext cx="1815150" cy="1846645"/>
          </a:xfrm>
          <a:prstGeom prst="rect">
            <a:avLst/>
          </a:prstGeom>
        </p:spPr>
      </p:pic>
      <p:sp>
        <p:nvSpPr>
          <p:cNvPr id="45" name="Rectangle: Top Corners Rounded 44">
            <a:extLst>
              <a:ext uri="{FF2B5EF4-FFF2-40B4-BE49-F238E27FC236}">
                <a16:creationId xmlns:a16="http://schemas.microsoft.com/office/drawing/2014/main" id="{E4BF3581-7835-6FC9-2BEF-C2A760F304C0}"/>
              </a:ext>
            </a:extLst>
          </p:cNvPr>
          <p:cNvSpPr/>
          <p:nvPr/>
        </p:nvSpPr>
        <p:spPr>
          <a:xfrm rot="10800000">
            <a:off x="8693620" y="8347269"/>
            <a:ext cx="3957851" cy="1015679"/>
          </a:xfrm>
          <a:prstGeom prst="round2SameRect">
            <a:avLst/>
          </a:prstGeom>
          <a:solidFill>
            <a:srgbClr val="99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8D7F471-3377-BCDB-0276-BAAF851D8B7B}"/>
              </a:ext>
            </a:extLst>
          </p:cNvPr>
          <p:cNvSpPr txBox="1"/>
          <p:nvPr/>
        </p:nvSpPr>
        <p:spPr>
          <a:xfrm>
            <a:off x="8693619" y="8347269"/>
            <a:ext cx="39578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system delivers real-time speech and ASL animation outputs for seamless two-way communication.</a:t>
            </a:r>
            <a:endParaRPr lang="en-US" dirty="0"/>
          </a:p>
          <a:p>
            <a:endParaRPr lang="en-IN" dirty="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E228E191-6543-E324-6855-616765C12D10}"/>
              </a:ext>
            </a:extLst>
          </p:cNvPr>
          <p:cNvSpPr/>
          <p:nvPr/>
        </p:nvSpPr>
        <p:spPr>
          <a:xfrm>
            <a:off x="4681179" y="7585988"/>
            <a:ext cx="3793837" cy="1776960"/>
          </a:xfrm>
          <a:prstGeom prst="roundRect">
            <a:avLst/>
          </a:prstGeom>
          <a:solidFill>
            <a:srgbClr val="99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2D22BC9-10B6-9264-A1AB-A316406D8E21}"/>
              </a:ext>
            </a:extLst>
          </p:cNvPr>
          <p:cNvSpPr txBox="1"/>
          <p:nvPr/>
        </p:nvSpPr>
        <p:spPr>
          <a:xfrm>
            <a:off x="4776950" y="7529740"/>
            <a:ext cx="418986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Mentor:</a:t>
            </a:r>
          </a:p>
          <a:p>
            <a:r>
              <a:rPr lang="en-IN" sz="1600" b="1" dirty="0"/>
              <a:t>Prof. Suraj </a:t>
            </a:r>
            <a:r>
              <a:rPr lang="en-IN" sz="1600" b="1" dirty="0" err="1"/>
              <a:t>Kadli</a:t>
            </a:r>
            <a:endParaRPr lang="en-IN" sz="1600" dirty="0"/>
          </a:p>
          <a:p>
            <a:r>
              <a:rPr lang="en-IN" sz="1600" b="1" dirty="0"/>
              <a:t>Team Members:</a:t>
            </a:r>
          </a:p>
          <a:p>
            <a:r>
              <a:rPr lang="en-IN" sz="1600" b="1" dirty="0"/>
              <a:t>Shreya </a:t>
            </a:r>
            <a:r>
              <a:rPr lang="en-IN" sz="1600" b="1" dirty="0" err="1"/>
              <a:t>Kallapur</a:t>
            </a:r>
            <a:r>
              <a:rPr lang="en-IN" sz="1600" dirty="0"/>
              <a:t> (2VD22EC100)</a:t>
            </a:r>
          </a:p>
          <a:p>
            <a:r>
              <a:rPr lang="en-IN" sz="1600" b="1" dirty="0"/>
              <a:t>Shrivatsa Deshpande</a:t>
            </a:r>
            <a:r>
              <a:rPr lang="en-IN" sz="1600" dirty="0"/>
              <a:t> (2VD22EC103)</a:t>
            </a:r>
          </a:p>
          <a:p>
            <a:r>
              <a:rPr lang="en-IN" sz="1600" b="1" dirty="0"/>
              <a:t>Sidharth </a:t>
            </a:r>
            <a:r>
              <a:rPr lang="en-IN" sz="1600" b="1" dirty="0" err="1"/>
              <a:t>Dindalakopp</a:t>
            </a:r>
            <a:r>
              <a:rPr lang="en-IN" sz="1600" dirty="0"/>
              <a:t> (2VD22EC104)</a:t>
            </a:r>
          </a:p>
          <a:p>
            <a:r>
              <a:rPr lang="en-IN" sz="1600" b="1" dirty="0"/>
              <a:t>Surabhi Kulkarni</a:t>
            </a:r>
            <a:r>
              <a:rPr lang="en-IN" sz="1600" dirty="0"/>
              <a:t> (2VD22EC110)</a:t>
            </a:r>
          </a:p>
          <a:p>
            <a:endParaRPr lang="en-IN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4562F832-474B-D353-9A4D-93212C3E54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7" t="40735" r="2665" b="33614"/>
          <a:stretch>
            <a:fillRect/>
          </a:stretch>
        </p:blipFill>
        <p:spPr>
          <a:xfrm>
            <a:off x="136474" y="4522818"/>
            <a:ext cx="4196079" cy="1110247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777D027-8F79-632B-921E-276966EE7F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8" t="66972" r="21144" b="7732"/>
          <a:stretch>
            <a:fillRect/>
          </a:stretch>
        </p:blipFill>
        <p:spPr>
          <a:xfrm>
            <a:off x="8700695" y="4407257"/>
            <a:ext cx="3950773" cy="133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942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85</TotalTime>
  <Words>220</Words>
  <Application>Microsoft Office PowerPoint</Application>
  <PresentationFormat>A3 Paper (297x420 mm)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 Display</vt:lpstr>
      <vt:lpstr>Arial</vt:lpstr>
      <vt:lpstr>Bahnschrift Light Condensed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Shrivatsa Deshpande</dc:creator>
  <cp:lastModifiedBy>Shrivatsa Deshpande</cp:lastModifiedBy>
  <cp:revision>1</cp:revision>
  <dcterms:created xsi:type="dcterms:W3CDTF">2025-12-04T14:07:11Z</dcterms:created>
  <dcterms:modified xsi:type="dcterms:W3CDTF">2025-12-04T15:33:11Z</dcterms:modified>
</cp:coreProperties>
</file>